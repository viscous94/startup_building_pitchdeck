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F23B6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K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CF23B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Transaction Commission(2%)</c:v>
                </c:pt>
                <c:pt idx="1">
                  <c:v>Affiliate Legal &amp; Conveyancing Share</c:v>
                </c:pt>
                <c:pt idx="2">
                  <c:v>Licensed Surveyor Booking Fee</c:v>
                </c:pt>
                <c:pt idx="3">
                  <c:v>Seller Premium Listing &amp; Valuation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0.85</c:v>
                </c:pt>
                <c:pt idx="1">
                  <c:v>0.6</c:v>
                </c:pt>
                <c:pt idx="2">
                  <c:v>0.45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BA-412D-A485-37D631F2AD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Transaction Commission(2%)</c:v>
                </c:pt>
                <c:pt idx="1">
                  <c:v>Affiliate Legal &amp; Conveyancing Share</c:v>
                </c:pt>
                <c:pt idx="2">
                  <c:v>Licensed Surveyor Booking Fee</c:v>
                </c:pt>
                <c:pt idx="3">
                  <c:v>Seller Premium Listing &amp; Valuation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4DBA-412D-A485-37D631F2AD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Transaction Commission(2%)</c:v>
                </c:pt>
                <c:pt idx="1">
                  <c:v>Affiliate Legal &amp; Conveyancing Share</c:v>
                </c:pt>
                <c:pt idx="2">
                  <c:v>Licensed Surveyor Booking Fee</c:v>
                </c:pt>
                <c:pt idx="3">
                  <c:v>Seller Premium Listing &amp; Valuation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4DBA-412D-A485-37D631F2AD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32699119"/>
        <c:axId val="732701999"/>
      </c:barChart>
      <c:catAx>
        <c:axId val="7326991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732701999"/>
        <c:crosses val="autoZero"/>
        <c:auto val="1"/>
        <c:lblAlgn val="ctr"/>
        <c:lblOffset val="100"/>
        <c:noMultiLvlLbl val="0"/>
      </c:catAx>
      <c:valAx>
        <c:axId val="7327019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KE"/>
          </a:p>
        </c:txPr>
        <c:crossAx val="732699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K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K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5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91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76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07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1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82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9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1A48-F18A-45B3-BC05-1E27DA3F88AF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23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smtClean="0"/>
              <a:t>10/4/2026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34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832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0360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5326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17048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58007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4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088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5B261-8843-42D1-AAFC-05E20E2D9B9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8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2FE8-8707-B0FE-4755-136B56BBD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57747"/>
            <a:ext cx="7766936" cy="1096900"/>
          </a:xfrm>
        </p:spPr>
        <p:txBody>
          <a:bodyPr/>
          <a:lstStyle/>
          <a:p>
            <a:pPr algn="ctr"/>
            <a:r>
              <a:rPr lang="en-US" sz="6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ArdhiTrust</a:t>
            </a:r>
            <a:endParaRPr lang="en-KE" sz="6600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CD4D9-842B-7975-D75F-8729544BEF50}"/>
              </a:ext>
            </a:extLst>
          </p:cNvPr>
          <p:cNvSpPr txBox="1"/>
          <p:nvPr/>
        </p:nvSpPr>
        <p:spPr>
          <a:xfrm>
            <a:off x="691112" y="3074288"/>
            <a:ext cx="9245852" cy="35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3200" b="1" i="0" u="none" dirty="0">
                <a:solidFill>
                  <a:srgbClr val="D97706"/>
                </a:solidFill>
                <a:latin typeface="Georgia" panose="02040502050405020303" pitchFamily="18" charset="0"/>
              </a:rPr>
              <a:t>Kenya's Premier Verified Land Marketplace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8EA24-0EFE-AC43-0173-A270E996D916}"/>
              </a:ext>
            </a:extLst>
          </p:cNvPr>
          <p:cNvSpPr txBox="1"/>
          <p:nvPr/>
        </p:nvSpPr>
        <p:spPr>
          <a:xfrm>
            <a:off x="864294" y="4185497"/>
            <a:ext cx="8899488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2400" b="0" i="0" u="none" spc="70" dirty="0">
                <a:latin typeface="Georgia" panose="02040502050405020303" pitchFamily="18" charset="0"/>
              </a:rPr>
              <a:t>Connecting genuine land sellers &amp; buyers with geotagged locations, automated valuations, affiliate cadastral surveyors, and legal conveyancing.</a:t>
            </a:r>
          </a:p>
        </p:txBody>
      </p:sp>
    </p:spTree>
    <p:extLst>
      <p:ext uri="{BB962C8B-B14F-4D97-AF65-F5344CB8AC3E}">
        <p14:creationId xmlns:p14="http://schemas.microsoft.com/office/powerpoint/2010/main" val="317770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8389-FA4B-8391-055F-D77C1D16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7416"/>
            <a:ext cx="8596668" cy="111298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The Land Market Challenge</a:t>
            </a:r>
            <a:br>
              <a:rPr lang="en-US" sz="3600" b="1" i="0" u="none" dirty="0">
                <a:solidFill>
                  <a:srgbClr val="064E3B"/>
                </a:solidFill>
                <a:latin typeface="Outfit"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EB7C2-8003-414C-053E-2E4379E58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21164"/>
            <a:ext cx="4587393" cy="223519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2600" b="1" i="0" u="none" dirty="0">
                <a:solidFill>
                  <a:srgbClr val="B91C1C"/>
                </a:solidFill>
                <a:latin typeface="Georgia" panose="02040502050405020303" pitchFamily="18" charset="0"/>
              </a:rPr>
              <a:t>High Fraud &amp; Fake Titles</a:t>
            </a:r>
            <a:endParaRPr lang="en-US" sz="1800" b="0" i="0" u="none" dirty="0">
              <a:solidFill>
                <a:srgbClr val="334155"/>
              </a:solidFill>
              <a:latin typeface="Plus Jakarta Sans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b="0" i="0" u="none" dirty="0">
                <a:solidFill>
                  <a:schemeClr val="tx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Buyers lose millions to duplicate title deeds, unregistered sellers, and phantom land plots. 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b="0" i="0" u="none" dirty="0">
                <a:solidFill>
                  <a:schemeClr val="tx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Fraud creates deep distrust in traditional land transactions across Kenya.</a:t>
            </a:r>
          </a:p>
          <a:p>
            <a:endParaRPr lang="en-KE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668E55-A181-9FFD-CB85-0E637F6FF242}"/>
              </a:ext>
            </a:extLst>
          </p:cNvPr>
          <p:cNvSpPr txBox="1">
            <a:spLocks/>
          </p:cNvSpPr>
          <p:nvPr/>
        </p:nvSpPr>
        <p:spPr>
          <a:xfrm>
            <a:off x="5264728" y="1921165"/>
            <a:ext cx="5223164" cy="209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i="0" u="none" dirty="0">
                <a:solidFill>
                  <a:srgbClr val="B91C1C"/>
                </a:solidFill>
                <a:latin typeface="Georgia" panose="02040502050405020303" pitchFamily="18" charset="0"/>
              </a:rPr>
              <a:t>Vague Locations &amp; Boundaries</a:t>
            </a:r>
            <a:endParaRPr lang="en-US" sz="2400" dirty="0">
              <a:solidFill>
                <a:srgbClr val="334155"/>
              </a:solidFill>
              <a:latin typeface="Georgia" panose="02040502050405020303" pitchFamily="18" charset="0"/>
            </a:endParaRPr>
          </a:p>
          <a:p>
            <a:pPr>
              <a:spcBef>
                <a:spcPts val="600"/>
              </a:spcBef>
            </a:pPr>
            <a:r>
              <a:rPr lang="en-US" b="0" i="0" u="none" dirty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Advertised land listings often lack exact GPS coordinates, boundary pinpoints, or verified local landmarks, causing costly search delays and physical site confusion.</a:t>
            </a:r>
          </a:p>
          <a:p>
            <a:endParaRPr lang="en-KE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EFA28D1-E888-9C60-53A1-DC241CF48235}"/>
              </a:ext>
            </a:extLst>
          </p:cNvPr>
          <p:cNvSpPr txBox="1">
            <a:spLocks/>
          </p:cNvSpPr>
          <p:nvPr/>
        </p:nvSpPr>
        <p:spPr>
          <a:xfrm>
            <a:off x="677333" y="4304147"/>
            <a:ext cx="4462703" cy="223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None/>
            </a:pPr>
            <a:r>
              <a:rPr lang="en-US" sz="2200" b="1" i="0" u="none" dirty="0">
                <a:solidFill>
                  <a:srgbClr val="B91C1C"/>
                </a:solidFill>
                <a:latin typeface="Georgia" panose="02040502050405020303" pitchFamily="18" charset="0"/>
              </a:rPr>
              <a:t>Complex Conveyancing</a:t>
            </a:r>
            <a:endParaRPr lang="en-US" sz="2200" b="0" i="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l">
              <a:spcBef>
                <a:spcPts val="600"/>
              </a:spcBef>
            </a:pPr>
            <a:r>
              <a:rPr lang="en-US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Navigating the Ministry of Lands, </a:t>
            </a:r>
            <a:r>
              <a:rPr lang="en-US" b="0" i="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Ardhisasa</a:t>
            </a:r>
            <a:r>
              <a:rPr lang="en-US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 portal, and Land Control Boards requires manual coordination with separate lawyers and unverified field surveyors.</a:t>
            </a:r>
          </a:p>
          <a:p>
            <a:endParaRPr lang="en-KE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2C035C-C806-AFF2-65A5-DB9176EB599E}"/>
              </a:ext>
            </a:extLst>
          </p:cNvPr>
          <p:cNvSpPr txBox="1">
            <a:spLocks/>
          </p:cNvSpPr>
          <p:nvPr/>
        </p:nvSpPr>
        <p:spPr>
          <a:xfrm>
            <a:off x="5252758" y="4156365"/>
            <a:ext cx="5223164" cy="18842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i="0" u="none" dirty="0">
                <a:solidFill>
                  <a:srgbClr val="B91C1C"/>
                </a:solidFill>
                <a:latin typeface="Georgia" panose="02040502050405020303" pitchFamily="18" charset="0"/>
              </a:rPr>
              <a:t>Opaque Land Valuations</a:t>
            </a:r>
          </a:p>
          <a:p>
            <a:pPr>
              <a:spcBef>
                <a:spcPts val="600"/>
              </a:spcBef>
            </a:pPr>
            <a:r>
              <a:rPr lang="en-US" sz="19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Sellers lack reliable valuation data, leading to overpricing or selling below market value. </a:t>
            </a:r>
          </a:p>
          <a:p>
            <a:pPr>
              <a:spcBef>
                <a:spcPts val="600"/>
              </a:spcBef>
            </a:pPr>
            <a:r>
              <a:rPr lang="en-US" sz="19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Buyers struggle to confirm fair property pricing before making deposits.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91185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7A71-1984-0AEF-FE45-0CBD652DD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0232"/>
          </a:xfrm>
        </p:spPr>
        <p:txBody>
          <a:bodyPr/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The ArdhiTrust Solution</a:t>
            </a:r>
            <a:endParaRPr lang="en-KE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0BB7A-06E7-B057-62A7-23888E429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4873"/>
            <a:ext cx="5100012" cy="4930516"/>
          </a:xfrm>
        </p:spPr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20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End-to-End Land Marketplace Ecosystem</a:t>
            </a:r>
          </a:p>
          <a:p>
            <a:pPr marL="0" indent="0">
              <a:buNone/>
            </a:pPr>
            <a:r>
              <a:rPr lang="en-US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ArdhiTrust streamlines the entire land ownership journey into a seamless, trusted digital experience:</a:t>
            </a:r>
          </a:p>
          <a:p>
            <a:pPr marL="400050" lvl="1" indent="0">
              <a:buNone/>
            </a:pPr>
            <a:r>
              <a:rPr lang="en-US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Verified Listings:</a:t>
            </a:r>
            <a:r>
              <a:rPr lang="en-US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Direct seller-to-buyer matching backed by title verification.</a:t>
            </a:r>
          </a:p>
          <a:p>
            <a:pPr marL="400050" lvl="1" indent="0">
              <a:buNone/>
            </a:pPr>
            <a:r>
              <a:rPr lang="en-US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GPS &amp; Landmark Pinpointing:</a:t>
            </a:r>
            <a:r>
              <a:rPr lang="en-US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Precision geotagging with nearby visual landmarks.</a:t>
            </a:r>
          </a:p>
          <a:p>
            <a:pPr marL="400050" lvl="1" indent="0">
              <a:buNone/>
            </a:pPr>
            <a:r>
              <a:rPr lang="en-US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Affiliate Cadastral Surveyors:</a:t>
            </a:r>
            <a:r>
              <a:rPr lang="en-US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On-demand precise boundary re-establishment &amp; mutation checks.</a:t>
            </a:r>
          </a:p>
          <a:p>
            <a:pPr marL="400050" lvl="1" indent="0">
              <a:buNone/>
            </a:pPr>
            <a:r>
              <a:rPr lang="en-US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Turnkey Legal Transfer:</a:t>
            </a:r>
            <a:r>
              <a:rPr lang="en-US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Law firm integration for </a:t>
            </a:r>
            <a:r>
              <a:rPr lang="en-US" b="0" i="0" u="none" dirty="0" err="1">
                <a:solidFill>
                  <a:srgbClr val="334155"/>
                </a:solidFill>
                <a:latin typeface="Georgia" panose="02040502050405020303" pitchFamily="18" charset="0"/>
              </a:rPr>
              <a:t>Ardhisasa</a:t>
            </a:r>
            <a:r>
              <a:rPr lang="en-US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, NLC, &amp; Ministry filing.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0" i="0" u="none" dirty="0">
              <a:solidFill>
                <a:srgbClr val="334155"/>
              </a:solidFill>
              <a:latin typeface="Plus Jakarta Sans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b="0" i="0" u="none" dirty="0">
              <a:solidFill>
                <a:srgbClr val="334155"/>
              </a:solidFill>
              <a:latin typeface="Plus Jakarta Sans"/>
            </a:endParaRPr>
          </a:p>
          <a:p>
            <a:pPr marL="0" indent="0">
              <a:buNone/>
            </a:pPr>
            <a:endParaRPr lang="en-US" b="0" i="0" u="none" dirty="0">
              <a:solidFill>
                <a:srgbClr val="334155"/>
              </a:solidFill>
              <a:latin typeface="Plus Jakarta Sans"/>
            </a:endParaRPr>
          </a:p>
          <a:p>
            <a:endParaRPr lang="en-KE" dirty="0"/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FBA90B43-3C17-E891-1352-39F7B2801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8" y="3452561"/>
            <a:ext cx="247650" cy="25717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9309654B-824C-A2E3-357E-F14B1E71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81" y="4035091"/>
            <a:ext cx="247650" cy="257175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817A1409-9715-E25A-F5F1-24D9A6338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70" y="4687804"/>
            <a:ext cx="247650" cy="25717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A134E418-54F5-2653-52AA-A0D50A4B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12" y="5554073"/>
            <a:ext cx="247650" cy="257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3396E0-F57C-0588-49FC-4E4118B27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724" y="1162399"/>
            <a:ext cx="3924848" cy="46488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A29015-42ED-466E-9A52-486F1A1468CC}"/>
              </a:ext>
            </a:extLst>
          </p:cNvPr>
          <p:cNvSpPr txBox="1"/>
          <p:nvPr/>
        </p:nvSpPr>
        <p:spPr>
          <a:xfrm>
            <a:off x="6096000" y="5985164"/>
            <a:ext cx="4558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Kenyan land surveyor using GPS survey equipment in land</a:t>
            </a:r>
            <a:endParaRPr lang="en-KE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066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9092-EC52-D38C-46BB-C37786A8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74821"/>
          </a:xfrm>
        </p:spPr>
        <p:txBody>
          <a:bodyPr/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Core Application Features</a:t>
            </a:r>
            <a:endParaRPr lang="en-KE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646B4-36AF-7480-FE76-9015DD3CC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31006"/>
            <a:ext cx="4549760" cy="2030429"/>
          </a:xfrm>
        </p:spPr>
        <p:txBody>
          <a:bodyPr>
            <a:normAutofit fontScale="62500" lnSpcReduction="20000"/>
          </a:bodyPr>
          <a:lstStyle/>
          <a:p>
            <a:pPr algn="ctr"/>
            <a:endParaRPr lang="en-US" dirty="0"/>
          </a:p>
          <a:p>
            <a:pPr marL="0" indent="0">
              <a:buNone/>
            </a:pPr>
            <a:r>
              <a:rPr lang="en-US" sz="29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Exact GPS &amp; Landmark Geotagging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9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Pinpoint accuracy showing exact parcel boundaries, pin drop navigation, and proximity to key landmarks (schools, highways, utility grids).</a:t>
            </a:r>
          </a:p>
          <a:p>
            <a:endParaRPr lang="en-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379DD8-696C-4308-6727-28CF99E4D457}"/>
              </a:ext>
            </a:extLst>
          </p:cNvPr>
          <p:cNvSpPr txBox="1">
            <a:spLocks/>
          </p:cNvSpPr>
          <p:nvPr/>
        </p:nvSpPr>
        <p:spPr>
          <a:xfrm>
            <a:off x="5648604" y="2008365"/>
            <a:ext cx="4109543" cy="18723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  <a:p>
            <a:pPr marL="0" indent="0" algn="ctr">
              <a:lnSpc>
                <a:spcPts val="1631"/>
              </a:lnSpc>
              <a:buNone/>
            </a:pPr>
            <a:r>
              <a:rPr lang="en-US" sz="23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On-Demand Land Valuation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3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Optional automated valuation model (AVM) combined with licensed valuers to give sellers and buyers reliable price benchmarks.</a:t>
            </a:r>
          </a:p>
          <a:p>
            <a:endParaRPr lang="en-K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2EEBCB-3127-C8D4-B7FA-64FFDB2679D8}"/>
              </a:ext>
            </a:extLst>
          </p:cNvPr>
          <p:cNvSpPr txBox="1">
            <a:spLocks/>
          </p:cNvSpPr>
          <p:nvPr/>
        </p:nvSpPr>
        <p:spPr>
          <a:xfrm>
            <a:off x="5648605" y="4059415"/>
            <a:ext cx="4109544" cy="191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  <a:p>
            <a:pPr marL="0" indent="0" algn="ctr">
              <a:lnSpc>
                <a:spcPts val="1631"/>
              </a:lnSpc>
              <a:buNone/>
            </a:pPr>
            <a:r>
              <a:rPr lang="en-US" sz="2100" b="1" i="0" u="none" dirty="0" err="1">
                <a:solidFill>
                  <a:srgbClr val="C00000"/>
                </a:solidFill>
                <a:latin typeface="Georgia" panose="02040502050405020303" pitchFamily="18" charset="0"/>
              </a:rPr>
              <a:t>Ardhisasa</a:t>
            </a:r>
            <a:r>
              <a:rPr lang="en-US" sz="21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 &amp; Legal Integration</a:t>
            </a:r>
            <a:endParaRPr lang="en-US" sz="2100" b="0" i="0" u="none" dirty="0">
              <a:solidFill>
                <a:srgbClr val="C00000"/>
              </a:solidFill>
              <a:latin typeface="Georgia" panose="02040502050405020303" pitchFamily="18" charset="0"/>
            </a:endParaRP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n-US" sz="21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Affiliate advocate network handling LCB consents, stamp duty clearance, and seamless titling with the Ministry of Lands and NLC.</a:t>
            </a:r>
          </a:p>
          <a:p>
            <a:endParaRPr lang="en-K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7DD373-32CE-7FBB-19B9-085D1E92C43F}"/>
              </a:ext>
            </a:extLst>
          </p:cNvPr>
          <p:cNvSpPr txBox="1">
            <a:spLocks/>
          </p:cNvSpPr>
          <p:nvPr/>
        </p:nvSpPr>
        <p:spPr>
          <a:xfrm>
            <a:off x="677333" y="4080550"/>
            <a:ext cx="4109544" cy="21678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  <a:p>
            <a:pPr marL="0" indent="0" algn="ctr">
              <a:lnSpc>
                <a:spcPts val="1631"/>
              </a:lnSpc>
              <a:buNone/>
            </a:pPr>
            <a:r>
              <a:rPr lang="en-US" sz="21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Affiliate Cadastral Surveyors</a:t>
            </a:r>
            <a:endParaRPr lang="en-US" sz="2100" b="0" i="0" u="none" dirty="0">
              <a:solidFill>
                <a:srgbClr val="C00000"/>
              </a:solidFill>
              <a:latin typeface="Georgia" panose="02040502050405020303" pitchFamily="18" charset="0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21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Network of licensed surveyors who perform physical beacon verification, acreage confirmation, and mutation map drafting once matched.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0AB4183F-3C31-DD72-5ACB-9DA109C1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852" y="2008365"/>
            <a:ext cx="342900" cy="3429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6CC56CFA-B87A-16D7-76EF-3DF86CA54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200" y="1919893"/>
            <a:ext cx="257175" cy="34290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B25E1CAF-58EA-B34C-C1F4-97F995633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852" y="3984384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25866C66-47B1-3195-8FF1-F313F884F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376" y="4045767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4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FBAC3-BED1-C352-CB8F-247CE349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68990"/>
            <a:ext cx="8596668" cy="873457"/>
          </a:xfrm>
        </p:spPr>
        <p:txBody>
          <a:bodyPr/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Market Pain in Numbers</a:t>
            </a:r>
            <a:endParaRPr lang="en-KE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1753-C983-9C6D-0EF7-4685617FA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33767"/>
            <a:ext cx="3416994" cy="2934270"/>
          </a:xfrm>
          <a:solidFill>
            <a:srgbClr val="CF23B6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 sz="1800" b="1" i="0" u="none" dirty="0">
              <a:solidFill>
                <a:srgbClr val="FEF08A"/>
              </a:solidFill>
              <a:latin typeface="Outfit"/>
            </a:endParaRPr>
          </a:p>
          <a:p>
            <a:pPr marL="0" indent="0" algn="ctr">
              <a:buNone/>
            </a:pPr>
            <a:r>
              <a:rPr lang="en-KE" sz="7200" b="1" i="0" u="none" dirty="0">
                <a:solidFill>
                  <a:schemeClr val="tx1"/>
                </a:solidFill>
                <a:latin typeface="Georgia" panose="02040502050405020303" pitchFamily="18" charset="0"/>
              </a:rPr>
              <a:t>70%</a:t>
            </a:r>
          </a:p>
          <a:p>
            <a:endParaRPr lang="en-US" sz="1800" b="1" i="0" u="none" dirty="0">
              <a:solidFill>
                <a:schemeClr val="tx1"/>
              </a:solidFill>
              <a:latin typeface="Plus Jakarta Sans"/>
            </a:endParaRPr>
          </a:p>
          <a:p>
            <a:pPr marL="0" indent="0" algn="ctr">
              <a:buNone/>
            </a:pPr>
            <a:r>
              <a:rPr lang="en-US" b="1" i="0" u="none" dirty="0">
                <a:solidFill>
                  <a:schemeClr val="tx1"/>
                </a:solidFill>
                <a:latin typeface="Georgia" panose="02040502050405020303" pitchFamily="18" charset="0"/>
              </a:rPr>
              <a:t>Of Kenyan Land Buyers Fear Title Fraud &amp; Scams</a:t>
            </a:r>
          </a:p>
          <a:p>
            <a:endParaRPr lang="en-K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AC06BB-BBC0-DA8E-A0FB-4118B58BFC72}"/>
              </a:ext>
            </a:extLst>
          </p:cNvPr>
          <p:cNvSpPr txBox="1">
            <a:spLocks/>
          </p:cNvSpPr>
          <p:nvPr/>
        </p:nvSpPr>
        <p:spPr>
          <a:xfrm>
            <a:off x="4558352" y="1842447"/>
            <a:ext cx="5882185" cy="3862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Urgent Need for Trust &amp; Speed</a:t>
            </a:r>
            <a:endParaRPr lang="en-US" sz="2000" b="1" dirty="0">
              <a:solidFill>
                <a:srgbClr val="C00000"/>
              </a:solidFill>
              <a:latin typeface="Georgia" panose="02040502050405020303" pitchFamily="18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Georgia" panose="02040502050405020303" pitchFamily="18" charset="0"/>
              </a:rPr>
              <a:t>KES 15+ Billion</a:t>
            </a:r>
            <a:r>
              <a:rPr lang="en-US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lost annually in Kenya due to land-related scams, double allocations, and fraudulent title deeds.</a:t>
            </a:r>
          </a:p>
          <a:p>
            <a:r>
              <a:rPr lang="en-US" sz="18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45 to 90 Days</a:t>
            </a:r>
            <a:r>
              <a:rPr lang="en-US" sz="1800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standard processing time for land search, survey verification, and legal transfer in traditional setups.</a:t>
            </a:r>
          </a:p>
          <a:p>
            <a:r>
              <a:rPr lang="en-US" sz="18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ArdhiTrust Reduction:</a:t>
            </a:r>
            <a:r>
              <a:rPr lang="en-US" sz="1800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By bringing licensed surveyors and legal advocates onto one digital workflow synced with </a:t>
            </a:r>
            <a:r>
              <a:rPr lang="en-US" sz="1800" b="0" i="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Ardhisasa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, we cut transaction closing time to </a:t>
            </a:r>
            <a:r>
              <a:rPr lang="en-US" sz="18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under 14 days</a:t>
            </a:r>
            <a:r>
              <a:rPr lang="en-US" sz="1800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.</a:t>
            </a:r>
            <a:endParaRPr lang="en-US" dirty="0">
              <a:solidFill>
                <a:srgbClr val="0000FF"/>
              </a:solidFill>
              <a:latin typeface="Georgia" panose="02040502050405020303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94075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113F-E275-8A27-DBFB-6C108264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68990"/>
            <a:ext cx="8596668" cy="961409"/>
          </a:xfrm>
        </p:spPr>
        <p:txBody>
          <a:bodyPr/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Market Size &amp; Opportunity</a:t>
            </a:r>
            <a:endParaRPr lang="en-KE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597A8396-584B-F0EE-8DBB-61D1351B0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9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B687-64DB-5B49-D1CA-E674BA98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89" y="628007"/>
            <a:ext cx="8596668" cy="1113762"/>
          </a:xfrm>
        </p:spPr>
        <p:txBody>
          <a:bodyPr/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Competitive Landscape</a:t>
            </a:r>
            <a:endParaRPr lang="en-KE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67B52F-FEC2-8CE7-98CF-D476A7D99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41171"/>
              </p:ext>
            </p:extLst>
          </p:nvPr>
        </p:nvGraphicFramePr>
        <p:xfrm>
          <a:off x="525606" y="1455362"/>
          <a:ext cx="9920720" cy="4931412"/>
        </p:xfrm>
        <a:graphic>
          <a:graphicData uri="http://schemas.openxmlformats.org/drawingml/2006/table">
            <a:tbl>
              <a:tblPr/>
              <a:tblGrid>
                <a:gridCol w="1647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1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5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630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Feature / Service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23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BuyRentKenya</a:t>
                      </a:r>
                      <a:r>
                        <a:rPr sz="1600" b="1" i="0" u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/ Property24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23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Social Media / Brokers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23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ArdhiTrust (Our App)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23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740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Land Search &amp; Title Audit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Listings are uploaded by users/agencies with minimal upfront title verification.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 risk of fraud, double sales, or fake title deeds</a:t>
                      </a:r>
                      <a:r>
                        <a:rPr lang="en-US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Automated digital title searches integrated with government registers (</a:t>
                      </a:r>
                      <a:r>
                        <a:rPr lang="en-KE" sz="1200" kern="0" dirty="0" err="1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ArdhiSasa</a:t>
                      </a: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 to verify title validity before listing.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74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Exact GPS &amp; Landmark Pinpoint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Usually gives general location names or nearest major towns; exact boundary coordinates are rarely provided on listings.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Relies on text descriptions </a:t>
                      </a:r>
                      <a:r>
                        <a:rPr lang="en-US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dropping a pin manually on WhatsApp, or physically walking the plot.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Interactive mapping with exact polygon/boundary coordinates, physical landmarks, and offline GPS tracking ideal for rural navigation.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74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Professional Land Valuation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Prices are set arbitrarily by sellers/agents or estimated using basic web market averages.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Broker-driven pricing often inflated by high middleman commissions and lack of market data standard.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Data-driven comparative pricing algorithms combined with access to certified Valuers Registration Board (VRB) professionals.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825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Affiliate Cadastral Surveyors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Users must find, hire, and manage independent surveyors on their own.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Brokers may suggest local informal surveyors.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Panels of vetted, licensed survey firms/cadastral experts integrated </a:t>
                      </a:r>
                      <a:r>
                        <a:rPr lang="en-US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740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Full Legal Conveyancing Support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conveyancing and legal risk fall entirely on buyer/seller.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Basic informal agreements or reliance on broker-provided contracts</a:t>
                      </a:r>
                      <a:r>
                        <a:rPr lang="en-US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KE" sz="1200" kern="0" dirty="0">
                          <a:solidFill>
                            <a:srgbClr val="1F1F1F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In-app legal workflows linking clients to accredited advocates, managing LCB consents, escrow services, and transfer documentation.</a:t>
                      </a:r>
                      <a:endParaRPr lang="en-KE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5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1906-2F80-F1F9-2239-2503525C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18" y="844724"/>
            <a:ext cx="8596668" cy="893170"/>
          </a:xfrm>
        </p:spPr>
        <p:txBody>
          <a:bodyPr/>
          <a:lstStyle/>
          <a:p>
            <a:r>
              <a:rPr lang="en-US" sz="3600" b="1" i="0" u="none" dirty="0">
                <a:solidFill>
                  <a:srgbClr val="064E3B"/>
                </a:solidFill>
                <a:latin typeface="Georgia" panose="02040502050405020303" pitchFamily="18" charset="0"/>
              </a:rPr>
              <a:t>Business &amp; Revenue Model</a:t>
            </a:r>
            <a:endParaRPr lang="en-KE" dirty="0">
              <a:latin typeface="Georgia" panose="02040502050405020303" pitchFamily="18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AB4F405-4178-83C4-102D-A9A3FE2EF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373237"/>
              </p:ext>
            </p:extLst>
          </p:nvPr>
        </p:nvGraphicFramePr>
        <p:xfrm>
          <a:off x="1491915" y="1737894"/>
          <a:ext cx="8390021" cy="3959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3BAC516-DD34-EC0F-90F8-F75077D658ED}"/>
              </a:ext>
            </a:extLst>
          </p:cNvPr>
          <p:cNvSpPr txBox="1"/>
          <p:nvPr/>
        </p:nvSpPr>
        <p:spPr>
          <a:xfrm>
            <a:off x="1074821" y="6013276"/>
            <a:ext cx="9224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1" u="none" dirty="0">
                <a:latin typeface="Georgia" panose="02040502050405020303" pitchFamily="18" charset="0"/>
              </a:rPr>
              <a:t>Multi-stream revenue model combining platform transaction success fees with affiliate service commissions (legal &amp; survey).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86056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030D-F082-A2F7-0E89-0A3C50F2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113762"/>
          </a:xfrm>
        </p:spPr>
        <p:txBody>
          <a:bodyPr/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Go-To-Market Roadmap</a:t>
            </a:r>
            <a:endParaRPr lang="en-KE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F95C5-DD40-78AF-B2FF-F5F7C4425F54}"/>
              </a:ext>
            </a:extLst>
          </p:cNvPr>
          <p:cNvSpPr/>
          <p:nvPr/>
        </p:nvSpPr>
        <p:spPr>
          <a:xfrm>
            <a:off x="571500" y="399022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C018FFB4-561D-CB62-627D-CE18A5B1BEC1}"/>
              </a:ext>
            </a:extLst>
          </p:cNvPr>
          <p:cNvSpPr/>
          <p:nvPr/>
        </p:nvSpPr>
        <p:spPr>
          <a:xfrm>
            <a:off x="1874561" y="391928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07B8F0C0-29BF-460F-A69B-1BBDB816169E}"/>
              </a:ext>
            </a:extLst>
          </p:cNvPr>
          <p:cNvSpPr/>
          <p:nvPr/>
        </p:nvSpPr>
        <p:spPr>
          <a:xfrm>
            <a:off x="4181896" y="386639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A44A4B4E-9CBA-820F-A20A-60F5EDCCBC37}"/>
              </a:ext>
            </a:extLst>
          </p:cNvPr>
          <p:cNvSpPr/>
          <p:nvPr/>
        </p:nvSpPr>
        <p:spPr>
          <a:xfrm>
            <a:off x="6698781" y="391928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3E7CE296-A1D5-6870-4580-044D547B67A9}"/>
              </a:ext>
            </a:extLst>
          </p:cNvPr>
          <p:cNvSpPr/>
          <p:nvPr/>
        </p:nvSpPr>
        <p:spPr>
          <a:xfrm>
            <a:off x="9602172" y="386639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92BC3B-680A-221E-A23C-8F1E93338A88}"/>
              </a:ext>
            </a:extLst>
          </p:cNvPr>
          <p:cNvSpPr txBox="1"/>
          <p:nvPr/>
        </p:nvSpPr>
        <p:spPr>
          <a:xfrm>
            <a:off x="1395041" y="4378331"/>
            <a:ext cx="116859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 dirty="0">
                <a:latin typeface="Georgia" panose="02040502050405020303" pitchFamily="18" charset="0"/>
              </a:rPr>
              <a:t>Month 1 - 2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24F91B-79F7-617B-2396-7D05E97DD222}"/>
              </a:ext>
            </a:extLst>
          </p:cNvPr>
          <p:cNvSpPr txBox="1"/>
          <p:nvPr/>
        </p:nvSpPr>
        <p:spPr>
          <a:xfrm>
            <a:off x="662579" y="4704597"/>
            <a:ext cx="2633513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0" i="0" u="none" dirty="0">
                <a:latin typeface="Georgia" panose="02040502050405020303" pitchFamily="18" charset="0"/>
              </a:rPr>
              <a:t>Platform MVP Build &amp; Partner Onboarding (Advocates &amp; ISK Surveyors).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58CEE1-3170-13FF-BE87-0D65BF90A341}"/>
              </a:ext>
            </a:extLst>
          </p:cNvPr>
          <p:cNvSpPr txBox="1"/>
          <p:nvPr/>
        </p:nvSpPr>
        <p:spPr>
          <a:xfrm>
            <a:off x="3686345" y="2460373"/>
            <a:ext cx="120065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 dirty="0">
                <a:latin typeface="Georgia" panose="02040502050405020303" pitchFamily="18" charset="0"/>
              </a:rPr>
              <a:t>Month 3 - 4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DAAB92-2B6B-5CA1-D7EC-CE4CF76605CA}"/>
              </a:ext>
            </a:extLst>
          </p:cNvPr>
          <p:cNvSpPr txBox="1"/>
          <p:nvPr/>
        </p:nvSpPr>
        <p:spPr>
          <a:xfrm>
            <a:off x="2969914" y="2889529"/>
            <a:ext cx="263351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0" i="0" u="none" dirty="0">
                <a:latin typeface="Georgia" panose="02040502050405020303" pitchFamily="18" charset="0"/>
              </a:rPr>
              <a:t>Pilot Launch in Nairobi, Kiambu, Machakos &amp; Nakuru counties.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6C72D3-CC28-B606-FE87-94CEF29791BC}"/>
              </a:ext>
            </a:extLst>
          </p:cNvPr>
          <p:cNvSpPr txBox="1"/>
          <p:nvPr/>
        </p:nvSpPr>
        <p:spPr>
          <a:xfrm>
            <a:off x="6096000" y="4352401"/>
            <a:ext cx="119584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 dirty="0">
                <a:latin typeface="Georgia" panose="02040502050405020303" pitchFamily="18" charset="0"/>
              </a:rPr>
              <a:t>Month 5 - 6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D90ED1-EB72-E7F7-1C62-202432AD097D}"/>
              </a:ext>
            </a:extLst>
          </p:cNvPr>
          <p:cNvSpPr txBox="1"/>
          <p:nvPr/>
        </p:nvSpPr>
        <p:spPr>
          <a:xfrm>
            <a:off x="5274272" y="4704597"/>
            <a:ext cx="305856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0" i="0" u="none" dirty="0">
                <a:latin typeface="Georgia" panose="02040502050405020303" pitchFamily="18" charset="0"/>
              </a:rPr>
              <a:t>Kenyan Diaspora Targeted Marketing &amp; Banking Escrow Integration.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4D3F84-B28B-CA8B-2DB4-1A7B24F2FCA3}"/>
              </a:ext>
            </a:extLst>
          </p:cNvPr>
          <p:cNvSpPr txBox="1"/>
          <p:nvPr/>
        </p:nvSpPr>
        <p:spPr>
          <a:xfrm>
            <a:off x="8960971" y="2442757"/>
            <a:ext cx="12824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 dirty="0">
                <a:latin typeface="Georgia" panose="02040502050405020303" pitchFamily="18" charset="0"/>
              </a:rPr>
              <a:t>Month 7 - 12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DC9C26-F0FD-4B30-0573-4093FCA88C1D}"/>
              </a:ext>
            </a:extLst>
          </p:cNvPr>
          <p:cNvSpPr txBox="1"/>
          <p:nvPr/>
        </p:nvSpPr>
        <p:spPr>
          <a:xfrm>
            <a:off x="8332840" y="2838462"/>
            <a:ext cx="263351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sz="1600" b="0" i="0" u="none" dirty="0">
                <a:latin typeface="Georgia" panose="02040502050405020303" pitchFamily="18" charset="0"/>
              </a:rPr>
              <a:t>Nationwide Kenya expansion &amp; County Land Control Board portal Sync.</a:t>
            </a:r>
          </a:p>
        </p:txBody>
      </p:sp>
    </p:spTree>
    <p:extLst>
      <p:ext uri="{BB962C8B-B14F-4D97-AF65-F5344CB8AC3E}">
        <p14:creationId xmlns:p14="http://schemas.microsoft.com/office/powerpoint/2010/main" val="1919856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5166-2177-F51B-2C81-23A0C6F4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18674"/>
            <a:ext cx="8596668" cy="9117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Social Impact &amp; SDGs</a:t>
            </a:r>
            <a:br>
              <a:rPr lang="en-US" sz="3600" b="1" i="0" u="none" dirty="0">
                <a:solidFill>
                  <a:srgbClr val="064E3B"/>
                </a:solidFill>
                <a:latin typeface="Outfit"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B8AB-EB40-7E45-33AA-A9D4BA175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73" y="2160589"/>
            <a:ext cx="7766044" cy="3678737"/>
          </a:xfrm>
        </p:spPr>
        <p:txBody>
          <a:bodyPr/>
          <a:lstStyle/>
          <a:p>
            <a:pPr marL="0" indent="0">
              <a:buNone/>
            </a:pPr>
            <a:r>
              <a:rPr lang="en-US" sz="1800" b="1" i="0" u="none" dirty="0">
                <a:solidFill>
                  <a:srgbClr val="00B0F0"/>
                </a:solidFill>
                <a:latin typeface="Georgia" panose="02040502050405020303" pitchFamily="18" charset="0"/>
              </a:rPr>
              <a:t>SDG 11 - Sustainable Cities &amp; Communities:</a:t>
            </a:r>
            <a:r>
              <a:rPr lang="en-US" sz="1800" b="0" i="0" u="none" dirty="0">
                <a:solidFill>
                  <a:srgbClr val="00B0F0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Promotes transparent land allocation, accurate spatial boundary records, and orderly peri-urban real estate development in Kenya.</a:t>
            </a:r>
          </a:p>
          <a:p>
            <a:pPr marL="0" indent="0">
              <a:buNone/>
            </a:pPr>
            <a:r>
              <a:rPr lang="en-US" sz="1800" b="1" i="0" u="none" dirty="0">
                <a:solidFill>
                  <a:srgbClr val="00B0F0"/>
                </a:solidFill>
                <a:latin typeface="Georgia" panose="02040502050405020303" pitchFamily="18" charset="0"/>
              </a:rPr>
              <a:t>SDG 16 - Peace, Justice &amp; Strong Institutions:</a:t>
            </a:r>
            <a:r>
              <a:rPr lang="en-US" sz="1800" b="0" i="0" u="none" dirty="0">
                <a:solidFill>
                  <a:srgbClr val="00B0F0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Drastically cuts land fraud and title disputes by digitizing searches and enforcing legal conveyancing via certified advocates and Ministry processes.</a:t>
            </a:r>
          </a:p>
          <a:p>
            <a:pPr marL="0" indent="0">
              <a:buNone/>
            </a:pPr>
            <a:r>
              <a:rPr lang="en-US" sz="1800" b="1" i="0" u="none" dirty="0">
                <a:solidFill>
                  <a:srgbClr val="00B0F0"/>
                </a:solidFill>
                <a:latin typeface="Georgia" panose="02040502050405020303" pitchFamily="18" charset="0"/>
              </a:rPr>
              <a:t>SDG 8 - Decent Work &amp; Economic Growth:</a:t>
            </a:r>
            <a:r>
              <a:rPr lang="en-US" sz="1800" b="0" i="0" u="none" dirty="0">
                <a:solidFill>
                  <a:srgbClr val="00B0F0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rgbClr val="334155"/>
                </a:solidFill>
                <a:latin typeface="Georgia" panose="02040502050405020303" pitchFamily="18" charset="0"/>
              </a:rPr>
              <a:t>Creates formal digital contract opportunities for licensed Kenyan surveyors, registered valuers, and legal advocates.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F74C4FFB-070C-5247-75D5-1BE66C78A5F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408966" y="3221494"/>
            <a:ext cx="484000" cy="396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6868521-5E56-70C0-4B5F-ECB125DFFDB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493803" y="2337613"/>
            <a:ext cx="396000" cy="324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77E33306-254E-8F06-4EA3-2B984271213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486910" y="4177375"/>
            <a:ext cx="31200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56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D467-15CD-8D37-FA0E-39AA8672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10652"/>
            <a:ext cx="8596668" cy="91974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0" u="none" dirty="0">
                <a:solidFill>
                  <a:srgbClr val="064E3B"/>
                </a:solidFill>
                <a:latin typeface="Georgia" panose="02040502050405020303" pitchFamily="18" charset="0"/>
              </a:rPr>
              <a:t>Funding Ask &amp; Allocation</a:t>
            </a:r>
            <a:br>
              <a:rPr lang="en-US" sz="3600" b="1" i="0" u="none" dirty="0">
                <a:solidFill>
                  <a:srgbClr val="064E3B"/>
                </a:solidFill>
                <a:latin typeface="Outfit"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70768-CC6A-4D66-E7C5-D00071F6B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3461530" cy="3880773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Investment Ask</a:t>
            </a:r>
          </a:p>
          <a:p>
            <a:pPr marL="0" indent="0" algn="ctr">
              <a:buNone/>
            </a:pPr>
            <a:r>
              <a:rPr lang="en-US" sz="1800" b="1" i="0" u="none" dirty="0">
                <a:solidFill>
                  <a:schemeClr val="tx1"/>
                </a:solidFill>
                <a:latin typeface="Plus Jakarta Sans"/>
              </a:rPr>
              <a:t>($190,000 USD Seed Round)</a:t>
            </a:r>
          </a:p>
          <a:p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Seeking seed capital to accelerate platform engineering, scale affiliate surveyor networks, and launch targeted diaspora user acquisition.</a:t>
            </a:r>
          </a:p>
          <a:p>
            <a:endParaRPr lang="en-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41B58B-9FCA-9885-5F46-7A13814FEA46}"/>
              </a:ext>
            </a:extLst>
          </p:cNvPr>
          <p:cNvSpPr txBox="1">
            <a:spLocks/>
          </p:cNvSpPr>
          <p:nvPr/>
        </p:nvSpPr>
        <p:spPr>
          <a:xfrm>
            <a:off x="4391080" y="2160590"/>
            <a:ext cx="6116499" cy="4193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None/>
            </a:pPr>
            <a:r>
              <a:rPr lang="en-US" sz="2000" b="1" i="0" u="none" dirty="0">
                <a:solidFill>
                  <a:srgbClr val="C00000"/>
                </a:solidFill>
                <a:latin typeface="Georgia" panose="02040502050405020303" pitchFamily="18" charset="0"/>
              </a:rPr>
              <a:t>Use of Funds</a:t>
            </a:r>
          </a:p>
          <a:p>
            <a:pPr marL="400050" lvl="1" indent="0">
              <a:buNone/>
            </a:pPr>
            <a:r>
              <a:rPr lang="en-US" sz="18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40% Tech &amp; Mobile Engineering:</a:t>
            </a:r>
            <a:r>
              <a:rPr lang="en-US" sz="1800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GPS GIS engine, </a:t>
            </a:r>
            <a:r>
              <a:rPr lang="en-US" sz="1800" b="0" i="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Ardhisasa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 API hooks, AVM.</a:t>
            </a:r>
          </a:p>
          <a:p>
            <a:pPr marL="400050" lvl="1" indent="0">
              <a:buNone/>
            </a:pPr>
            <a:r>
              <a:rPr lang="en-US" sz="18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30% User Acquisition &amp; Marketing:</a:t>
            </a:r>
            <a:r>
              <a:rPr lang="en-US" sz="1800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Local &amp; Diaspora investor outreach campaigns.</a:t>
            </a:r>
          </a:p>
          <a:p>
            <a:pPr marL="400050" lvl="1" indent="0">
              <a:buNone/>
            </a:pPr>
            <a:r>
              <a:rPr lang="en-US" sz="18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20% Partner Network &amp; Legal Operations:</a:t>
            </a:r>
            <a:r>
              <a:rPr lang="en-US" sz="1800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Surveyor &amp; Law firm vetting.</a:t>
            </a:r>
          </a:p>
          <a:p>
            <a:pPr marL="400050" lvl="1" indent="0">
              <a:buNone/>
            </a:pPr>
            <a:r>
              <a:rPr lang="en-US" sz="18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10% Regulatory Compliance &amp; Contingency:</a:t>
            </a:r>
            <a:r>
              <a:rPr lang="en-US" sz="1800" b="0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</a:t>
            </a:r>
            <a:r>
              <a:rPr lang="en-US" sz="18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Land Board compliance.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2582F88-3825-40DC-512D-942026B174C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4520614" y="3380622"/>
            <a:ext cx="247650" cy="25717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7E1FA333-3536-B2FF-BFC9-3623A9E101E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504572" y="4786941"/>
            <a:ext cx="247650" cy="257175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2A341855-7197-A9B2-8C0A-7916B0191FA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456446" y="4048338"/>
            <a:ext cx="314325" cy="257175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8B387C86-EB81-BEB7-8DDD-9BE087A2F12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4487276" y="2694639"/>
            <a:ext cx="3143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99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96E7-EAC2-E337-44C4-F6D8F9B50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074820"/>
            <a:ext cx="8851677" cy="855579"/>
          </a:xfrm>
        </p:spPr>
        <p:txBody>
          <a:bodyPr>
            <a:normAutofit fontScale="90000"/>
          </a:bodyPr>
          <a:lstStyle/>
          <a:p>
            <a:r>
              <a:rPr lang="en-US" sz="3600" b="1" i="0" u="none" dirty="0">
                <a:solidFill>
                  <a:srgbClr val="00B050"/>
                </a:solidFill>
                <a:latin typeface="Georgia" panose="02040502050405020303" pitchFamily="18" charset="0"/>
              </a:rPr>
              <a:t>Join Us in Securing Kenya's Land Future</a:t>
            </a:r>
            <a:br>
              <a:rPr lang="en-US" sz="3600" b="1" i="0" u="none" dirty="0">
                <a:solidFill>
                  <a:srgbClr val="064E3B"/>
                </a:solidFill>
                <a:latin typeface="Outfit"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37FB-44F4-664E-237F-E50C3CB85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1800" b="0" i="0" u="none" dirty="0">
              <a:solidFill>
                <a:srgbClr val="475569"/>
              </a:solidFill>
              <a:latin typeface="Plus Jakarta Sans"/>
            </a:endParaRPr>
          </a:p>
          <a:p>
            <a:pPr marL="0" indent="0" algn="ctr">
              <a:buNone/>
            </a:pPr>
            <a:r>
              <a:rPr lang="en-US" sz="2000" b="0" i="0" u="none" dirty="0">
                <a:solidFill>
                  <a:schemeClr val="tx1"/>
                </a:solidFill>
                <a:latin typeface="Georgia" panose="02040502050405020303" pitchFamily="18" charset="0"/>
              </a:rPr>
              <a:t>Let's build Kenya's most trusted land marketplace together.</a:t>
            </a:r>
          </a:p>
          <a:p>
            <a:endParaRPr lang="en-KE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247061F-135A-98BF-FAB5-59FA20BD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593" y="3608972"/>
            <a:ext cx="180975" cy="18097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CFAF4CC-9518-03CA-367D-F5F89297B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043" y="3608972"/>
            <a:ext cx="180975" cy="180975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2101A22A-F365-C198-2256-FCC52A926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93" y="3608972"/>
            <a:ext cx="180975" cy="180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27E57A-676F-6307-6873-B2B6CB27A537}"/>
              </a:ext>
            </a:extLst>
          </p:cNvPr>
          <p:cNvSpPr txBox="1"/>
          <p:nvPr/>
        </p:nvSpPr>
        <p:spPr>
          <a:xfrm>
            <a:off x="1546206" y="3570872"/>
            <a:ext cx="2388475" cy="21544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ctr"/>
            <a:r>
              <a:rPr lang="en-US" sz="14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   </a:t>
            </a:r>
            <a:r>
              <a:rPr sz="14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www.ardhitrust.co.ke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363C9-B9D6-C5BE-6D4C-59D28248DEBC}"/>
              </a:ext>
            </a:extLst>
          </p:cNvPr>
          <p:cNvSpPr txBox="1"/>
          <p:nvPr/>
        </p:nvSpPr>
        <p:spPr>
          <a:xfrm>
            <a:off x="3949154" y="3570872"/>
            <a:ext cx="2497480" cy="21544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ctr"/>
            <a:r>
              <a:rPr lang="en-US" sz="14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     </a:t>
            </a:r>
            <a:r>
              <a:rPr sz="14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info@ardhitrust.co.ke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AC661-5A0B-59DA-0670-AD57F5977637}"/>
              </a:ext>
            </a:extLst>
          </p:cNvPr>
          <p:cNvSpPr txBox="1"/>
          <p:nvPr/>
        </p:nvSpPr>
        <p:spPr>
          <a:xfrm>
            <a:off x="6424714" y="3586412"/>
            <a:ext cx="2056653" cy="21544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ctr"/>
            <a:r>
              <a:rPr lang="en-US" sz="14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        </a:t>
            </a:r>
            <a:r>
              <a:rPr sz="14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+254 70</a:t>
            </a:r>
            <a:r>
              <a:rPr lang="en-US" sz="1400" b="1" i="0" u="none" dirty="0">
                <a:solidFill>
                  <a:srgbClr val="0000FF"/>
                </a:solidFill>
                <a:latin typeface="Georgia" panose="02040502050405020303" pitchFamily="18" charset="0"/>
              </a:rPr>
              <a:t>8162932</a:t>
            </a:r>
            <a:endParaRPr sz="1400" b="1" i="0" u="none" dirty="0">
              <a:solidFill>
                <a:srgbClr val="0000FF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546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B4DF-CAFF-0C01-895E-197468F7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A46CF7-C2FF-6DA8-5057-5D67F8E09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019" y="2160589"/>
            <a:ext cx="3906982" cy="266079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5EDED3-B631-64F9-23AB-E9465145E5C6}"/>
              </a:ext>
            </a:extLst>
          </p:cNvPr>
          <p:cNvSpPr txBox="1"/>
          <p:nvPr/>
        </p:nvSpPr>
        <p:spPr>
          <a:xfrm>
            <a:off x="1818409" y="5051572"/>
            <a:ext cx="6102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https://web.facebook.com/fabian.balogun/posts/how-to-become-a-licensed-land-surveyor-in-kenyaas-of-october-2021-refer-list-of-/1105187647101364/?_rdc=1&amp;_rdr#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043100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204</TotalTime>
  <Words>1018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Georgia</vt:lpstr>
      <vt:lpstr>Outfit</vt:lpstr>
      <vt:lpstr>Plus Jakarta Sans</vt:lpstr>
      <vt:lpstr>Trebuchet MS</vt:lpstr>
      <vt:lpstr>Wingdings</vt:lpstr>
      <vt:lpstr>Wingdings 3</vt:lpstr>
      <vt:lpstr>Facet</vt:lpstr>
      <vt:lpstr>ArdhiTrust</vt:lpstr>
      <vt:lpstr>The Land Market Challenge </vt:lpstr>
      <vt:lpstr>The ArdhiTrust Solution</vt:lpstr>
      <vt:lpstr>Core Application Features</vt:lpstr>
      <vt:lpstr>Market Pain in Numbers</vt:lpstr>
      <vt:lpstr>Market Size &amp; Opportunity</vt:lpstr>
      <vt:lpstr>Competitive Landscape</vt:lpstr>
      <vt:lpstr>Business &amp; Revenue Model</vt:lpstr>
      <vt:lpstr>Go-To-Market Roadmap</vt:lpstr>
      <vt:lpstr>Social Impact &amp; SDGs </vt:lpstr>
      <vt:lpstr>Funding Ask &amp; Allocation </vt:lpstr>
      <vt:lpstr>Join Us in Securing Kenya's Land Future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ArdhiTrust</dc:title>
  <dc:creator>Manrob</dc:creator>
  <cp:lastModifiedBy>Manrob</cp:lastModifiedBy>
  <cp:revision>9</cp:revision>
  <dcterms:created xsi:type="dcterms:W3CDTF">2026-10-02T17:25:07Z</dcterms:created>
  <dcterms:modified xsi:type="dcterms:W3CDTF">2026-10-04T10:59:24Z</dcterms:modified>
</cp:coreProperties>
</file>